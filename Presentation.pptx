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548640" y="1120140"/>
            <a:ext cx="804672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Password Lab</a:t>
            </a:r>
            <a:endParaRPr lang="en-US" sz="4800" dirty="0"/>
          </a:p>
        </p:txBody>
      </p:sp>
      <p:sp>
        <p:nvSpPr>
          <p:cNvPr id="4" name="Subtitle"/>
          <p:cNvSpPr txBox="1"/>
          <p:nvPr/>
        </p:nvSpPr>
        <p:spPr>
          <a:xfrm>
            <a:off x="548640" y="2092325"/>
            <a:ext cx="80467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Password Strength Checker and Secure Generator</a:t>
            </a:r>
            <a:endParaRPr lang="en-US" sz="2400" dirty="0"/>
          </a:p>
        </p:txBody>
      </p:sp>
      <p:sp>
        <p:nvSpPr>
          <p:cNvPr id="5" name="Presenter"/>
          <p:cNvSpPr txBox="1"/>
          <p:nvPr/>
        </p:nvSpPr>
        <p:spPr>
          <a:xfrm>
            <a:off x="548640" y="3566160"/>
            <a:ext cx="804672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Ayush Asodariya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Enrollment No. 12502080603002  |  B.Tech Information Technology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Guide: </a:t>
            </a:r>
            <a:r>
              <a:rPr lang="en-IN" altLang="en-US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Prof. Nayan Mali</a:t>
            </a:r>
            <a:r>
              <a:rPr lang="en-US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|  Programming with Python</a:t>
            </a:r>
            <a:endParaRPr lang="en-US" sz="1400" dirty="0"/>
          </a:p>
        </p:txBody>
      </p:sp>
      <p:graphicFrame>
        <p:nvGraphicFramePr>
          <p:cNvPr id="6" name="Table 5"/>
          <p:cNvGraphicFramePr/>
          <p:nvPr/>
        </p:nvGraphicFramePr>
        <p:xfrm>
          <a:off x="0" y="0"/>
          <a:ext cx="9144000" cy="914400"/>
        </p:xfrm>
        <a:graphic>
          <a:graphicData uri="http://schemas.openxmlformats.org/drawingml/2006/table">
            <a:tbl>
              <a:tblPr/>
              <a:tblGrid>
                <a:gridCol w="1393825"/>
                <a:gridCol w="6356350"/>
                <a:gridCol w="1393825"/>
              </a:tblGrid>
              <a:tr h="914400">
                <a:tc>
                  <a:txBody>
                    <a:bodyPr/>
                    <a:p>
                      <a:pPr marL="6858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sz="1400">
                        <a:solidFill>
                          <a:schemeClr val="bg1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68580" indent="0" algn="ctr">
                        <a:spcBef>
                          <a:spcPct val="0"/>
                        </a:spcBef>
                        <a:spcAft>
                          <a:spcPts val="100"/>
                        </a:spcAft>
                      </a:pPr>
                      <a:r>
                        <a:rPr lang="en-US" altLang="zh-CN" sz="1800" b="1">
                          <a:solidFill>
                            <a:schemeClr val="bg1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A D PATEL INSTITUTE OF TECHNOLOGY</a:t>
                      </a:r>
                      <a:endParaRPr lang="en-US" altLang="zh-CN" sz="1800" b="1">
                        <a:solidFill>
                          <a:schemeClr val="bg1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  <a:p>
                      <a:pPr marL="6858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>
                          <a:solidFill>
                            <a:schemeClr val="bg1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(The Charutar Vidya Mandal University)</a:t>
                      </a:r>
                      <a:endParaRPr lang="en-US" altLang="zh-CN" sz="1400" b="1">
                        <a:solidFill>
                          <a:schemeClr val="bg1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68580" indent="0" algn="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sz="1400">
                        <a:solidFill>
                          <a:schemeClr val="bg1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7" name="Picture 6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9460" cy="751205"/>
          </a:xfrm>
          <a:prstGeom prst="rect">
            <a:avLst/>
          </a:prstGeom>
        </p:spPr>
      </p:pic>
      <p:pic>
        <p:nvPicPr>
          <p:cNvPr id="8" name="Picture 7"/>
          <p:cNvPicPr/>
          <p:nvPr/>
        </p:nvPicPr>
        <p:blipFill>
          <a:blip r:embed="rId2"/>
          <a:stretch>
            <a:fillRect/>
          </a:stretch>
        </p:blipFill>
        <p:spPr>
          <a:xfrm>
            <a:off x="8384540" y="635"/>
            <a:ext cx="759460" cy="73596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Problem and Objectives</a:t>
            </a:r>
            <a:endParaRPr lang="en-US" sz="3000" dirty="0"/>
          </a:p>
        </p:txBody>
      </p:sp>
      <p:sp>
        <p:nvSpPr>
          <p:cNvPr id="4" name="Slide number"/>
          <p:cNvSpPr txBox="1"/>
          <p:nvPr/>
        </p:nvSpPr>
        <p:spPr>
          <a:xfrm>
            <a:off x="8138160" y="475488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Problem card"/>
          <p:cNvSpPr/>
          <p:nvPr/>
        </p:nvSpPr>
        <p:spPr>
          <a:xfrm>
            <a:off x="457200" y="1097280"/>
            <a:ext cx="3657600" cy="3154680"/>
          </a:xfrm>
          <a:prstGeom prst="roundRect">
            <a:avLst>
              <a:gd name="adj" fmla="val 2319"/>
            </a:avLst>
          </a:prstGeom>
          <a:solidFill>
            <a:srgbClr val="EEF2F9"/>
          </a:solidFill>
          <a:ln w="9525">
            <a:solidFill>
              <a:srgbClr val="C9D3E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23444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problem</a:t>
            </a:r>
            <a:endParaRPr lang="en-US" sz="1800" dirty="0"/>
          </a:p>
        </p:txBody>
      </p:sp>
      <p:sp>
        <p:nvSpPr>
          <p:cNvPr id="7" name="Problem text"/>
          <p:cNvSpPr txBox="1"/>
          <p:nvPr/>
        </p:nvSpPr>
        <p:spPr>
          <a:xfrm>
            <a:off x="640080" y="1691640"/>
            <a:ext cx="3291840" cy="2651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6262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Attackers try common passwords, keyboard walks and personal details first.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6262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“P@ssw0rd123!” follows the usual rules but is still easy to guess.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6262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Online checkers need you to type a real password into a website.</a:t>
            </a:r>
            <a:endParaRPr lang="en-US" sz="1500" dirty="0"/>
          </a:p>
        </p:txBody>
      </p:sp>
      <p:sp>
        <p:nvSpPr>
          <p:cNvPr id="8" name="Number 1"/>
          <p:cNvSpPr/>
          <p:nvPr/>
        </p:nvSpPr>
        <p:spPr>
          <a:xfrm>
            <a:off x="4480560" y="1207008"/>
            <a:ext cx="502920" cy="50292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480560" y="1207008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Objective 1"/>
          <p:cNvSpPr txBox="1"/>
          <p:nvPr/>
        </p:nvSpPr>
        <p:spPr>
          <a:xfrm>
            <a:off x="5166360" y="1097280"/>
            <a:ext cx="35204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6262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Score any password from 0 to 100 and explain every weakness</a:t>
            </a:r>
            <a:endParaRPr lang="en-US" sz="1500" dirty="0"/>
          </a:p>
        </p:txBody>
      </p:sp>
      <p:sp>
        <p:nvSpPr>
          <p:cNvPr id="11" name="Number 2"/>
          <p:cNvSpPr/>
          <p:nvPr/>
        </p:nvSpPr>
        <p:spPr>
          <a:xfrm>
            <a:off x="4480560" y="2075688"/>
            <a:ext cx="502920" cy="50292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480560" y="2075688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Objective 2"/>
          <p:cNvSpPr txBox="1"/>
          <p:nvPr/>
        </p:nvSpPr>
        <p:spPr>
          <a:xfrm>
            <a:off x="5166360" y="1965960"/>
            <a:ext cx="35204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6262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Generate secure random passwords and passphrases</a:t>
            </a:r>
            <a:endParaRPr lang="en-US" sz="1500" dirty="0"/>
          </a:p>
        </p:txBody>
      </p:sp>
      <p:sp>
        <p:nvSpPr>
          <p:cNvPr id="14" name="Number 3"/>
          <p:cNvSpPr/>
          <p:nvPr/>
        </p:nvSpPr>
        <p:spPr>
          <a:xfrm>
            <a:off x="4480560" y="2944368"/>
            <a:ext cx="502920" cy="50292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480560" y="2944368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Objective 3"/>
          <p:cNvSpPr txBox="1"/>
          <p:nvPr/>
        </p:nvSpPr>
        <p:spPr>
          <a:xfrm>
            <a:off x="5166360" y="2834640"/>
            <a:ext cx="35204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6262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Run fully offline: no network, logs or saved files</a:t>
            </a:r>
            <a:endParaRPr lang="en-US" sz="1500" dirty="0"/>
          </a:p>
        </p:txBody>
      </p:sp>
      <p:sp>
        <p:nvSpPr>
          <p:cNvPr id="17" name="Number 4"/>
          <p:cNvSpPr/>
          <p:nvPr/>
        </p:nvSpPr>
        <p:spPr>
          <a:xfrm>
            <a:off x="4480560" y="3813048"/>
            <a:ext cx="502920" cy="50292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480560" y="3813048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Objective 4"/>
          <p:cNvSpPr txBox="1"/>
          <p:nvPr/>
        </p:nvSpPr>
        <p:spPr>
          <a:xfrm>
            <a:off x="5166360" y="3703320"/>
            <a:ext cx="35204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6262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Keep the code modular and test it automatically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System Design</a:t>
            </a:r>
            <a:endParaRPr lang="en-US" sz="3000" dirty="0"/>
          </a:p>
        </p:txBody>
      </p:sp>
      <p:sp>
        <p:nvSpPr>
          <p:cNvPr id="4" name="Slide number"/>
          <p:cNvSpPr txBox="1"/>
          <p:nvPr/>
        </p:nvSpPr>
        <p:spPr>
          <a:xfrm>
            <a:off x="8138160" y="475488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Module card 1"/>
          <p:cNvSpPr/>
          <p:nvPr/>
        </p:nvSpPr>
        <p:spPr>
          <a:xfrm>
            <a:off x="457200" y="109728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EEF2F9"/>
          </a:solidFill>
          <a:ln w="9525">
            <a:solidFill>
              <a:srgbClr val="C9D3E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207008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86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main.py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591056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6262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Tkinter interface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938528"/>
            <a:ext cx="228600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Two tabs, live score, checklist, copy buttons</a:t>
            </a:r>
            <a:endParaRPr lang="en-US" sz="1400" dirty="0"/>
          </a:p>
        </p:txBody>
      </p:sp>
      <p:sp>
        <p:nvSpPr>
          <p:cNvPr id="9" name="Module card 2"/>
          <p:cNvSpPr/>
          <p:nvPr/>
        </p:nvSpPr>
        <p:spPr>
          <a:xfrm>
            <a:off x="3246120" y="109728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EEF2F9"/>
          </a:solidFill>
          <a:ln w="9525">
            <a:solidFill>
              <a:srgbClr val="C9D3E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29000" y="1207008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86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analyzer.py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1591056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6262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Strength analysis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429000" y="1938528"/>
            <a:ext cx="228600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Regex rules, blocklist, score, entropy estimate</a:t>
            </a:r>
            <a:endParaRPr lang="en-US" sz="1400" dirty="0"/>
          </a:p>
        </p:txBody>
      </p:sp>
      <p:sp>
        <p:nvSpPr>
          <p:cNvPr id="13" name="Module card 3"/>
          <p:cNvSpPr/>
          <p:nvPr/>
        </p:nvSpPr>
        <p:spPr>
          <a:xfrm>
            <a:off x="6035040" y="109728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EEF2F9"/>
          </a:solidFill>
          <a:ln w="9525">
            <a:solidFill>
              <a:srgbClr val="C9D3E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17920" y="1207008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86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generator.py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0" y="1591056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6262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Secure generation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217920" y="1938528"/>
            <a:ext cx="228600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Random passwords and passphrases using secrets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301752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a keystroke is processed</a:t>
            </a:r>
            <a:endParaRPr lang="en-US" sz="1600" dirty="0"/>
          </a:p>
        </p:txBody>
      </p:sp>
      <p:sp>
        <p:nvSpPr>
          <p:cNvPr id="18" name="Flow step 1"/>
          <p:cNvSpPr/>
          <p:nvPr/>
        </p:nvSpPr>
        <p:spPr>
          <a:xfrm>
            <a:off x="457200" y="3429000"/>
            <a:ext cx="11887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7200" y="3429000"/>
            <a:ext cx="1188720" cy="685800"/>
          </a:xfrm>
          <a:prstGeom prst="rect">
            <a:avLst/>
          </a:prstGeom>
          <a:noFill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Type</a:t>
            </a:r>
            <a:endParaRPr lang="en-US" sz="1200" dirty="0"/>
          </a:p>
        </p:txBody>
      </p:sp>
      <p:sp>
        <p:nvSpPr>
          <p:cNvPr id="20" name="Flow step 2"/>
          <p:cNvSpPr/>
          <p:nvPr/>
        </p:nvSpPr>
        <p:spPr>
          <a:xfrm>
            <a:off x="1755648" y="3429000"/>
            <a:ext cx="11887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755648" y="3429000"/>
            <a:ext cx="1188720" cy="685800"/>
          </a:xfrm>
          <a:prstGeom prst="rect">
            <a:avLst/>
          </a:prstGeom>
          <a:noFill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Wait 180 ms</a:t>
            </a:r>
            <a:endParaRPr lang="en-US" sz="1200" dirty="0"/>
          </a:p>
        </p:txBody>
      </p:sp>
      <p:sp>
        <p:nvSpPr>
          <p:cNvPr id="22" name="Flow step 3"/>
          <p:cNvSpPr/>
          <p:nvPr/>
        </p:nvSpPr>
        <p:spPr>
          <a:xfrm>
            <a:off x="3054096" y="3429000"/>
            <a:ext cx="11887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054096" y="3429000"/>
            <a:ext cx="1188720" cy="685800"/>
          </a:xfrm>
          <a:prstGeom prst="rect">
            <a:avLst/>
          </a:prstGeom>
          <a:noFill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Worker thread</a:t>
            </a:r>
            <a:endParaRPr lang="en-US" sz="1200" dirty="0"/>
          </a:p>
        </p:txBody>
      </p:sp>
      <p:sp>
        <p:nvSpPr>
          <p:cNvPr id="24" name="Flow step 4"/>
          <p:cNvSpPr/>
          <p:nvPr/>
        </p:nvSpPr>
        <p:spPr>
          <a:xfrm>
            <a:off x="4352544" y="3429000"/>
            <a:ext cx="1737360" cy="685800"/>
          </a:xfrm>
          <a:prstGeom prst="roundRect">
            <a:avLst>
              <a:gd name="adj" fmla="val 10667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352544" y="3429000"/>
            <a:ext cx="1737360" cy="685800"/>
          </a:xfrm>
          <a:prstGeom prst="rect">
            <a:avLst/>
          </a:prstGeom>
          <a:noFill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analyze_password()</a:t>
            </a:r>
            <a:endParaRPr lang="en-US" sz="1200" dirty="0"/>
          </a:p>
        </p:txBody>
      </p:sp>
      <p:sp>
        <p:nvSpPr>
          <p:cNvPr id="26" name="Flow step 5"/>
          <p:cNvSpPr/>
          <p:nvPr/>
        </p:nvSpPr>
        <p:spPr>
          <a:xfrm>
            <a:off x="6199632" y="3429000"/>
            <a:ext cx="11887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199632" y="3429000"/>
            <a:ext cx="1188720" cy="685800"/>
          </a:xfrm>
          <a:prstGeom prst="rect">
            <a:avLst/>
          </a:prstGeom>
          <a:noFill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Queue</a:t>
            </a:r>
            <a:endParaRPr lang="en-US" sz="1200" dirty="0"/>
          </a:p>
        </p:txBody>
      </p:sp>
      <p:sp>
        <p:nvSpPr>
          <p:cNvPr id="28" name="Flow step 6"/>
          <p:cNvSpPr/>
          <p:nvPr/>
        </p:nvSpPr>
        <p:spPr>
          <a:xfrm>
            <a:off x="7498080" y="3429000"/>
            <a:ext cx="11887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498080" y="3429000"/>
            <a:ext cx="1188720" cy="685800"/>
          </a:xfrm>
          <a:prstGeom prst="rect">
            <a:avLst/>
          </a:prstGeom>
          <a:noFill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Update screen</a:t>
            </a:r>
            <a:endParaRPr lang="en-US" sz="1200" dirty="0"/>
          </a:p>
        </p:txBody>
      </p:sp>
      <p:sp>
        <p:nvSpPr>
          <p:cNvPr id="30" name="Score formula"/>
          <p:cNvSpPr txBox="1"/>
          <p:nvPr/>
        </p:nvSpPr>
        <p:spPr>
          <a:xfrm>
            <a:off x="457200" y="425196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Score = length + variety points − penalties for each weakness found (capped at 15 if blocklisted)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Testing and Results</a:t>
            </a:r>
            <a:endParaRPr lang="en-US" sz="3000" dirty="0"/>
          </a:p>
        </p:txBody>
      </p:sp>
      <p:sp>
        <p:nvSpPr>
          <p:cNvPr id="4" name="Slide number"/>
          <p:cNvSpPr txBox="1"/>
          <p:nvPr/>
        </p:nvSpPr>
        <p:spPr>
          <a:xfrm>
            <a:off x="8138160" y="475488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000" dirty="0"/>
          </a:p>
        </p:txBody>
      </p:sp>
      <p:graphicFrame>
        <p:nvGraphicFramePr>
          <p:cNvPr id="5" name="Results table"/>
          <p:cNvGraphicFramePr>
            <a:graphicFrameLocks noGrp="1"/>
          </p:cNvGraphicFramePr>
          <p:nvPr/>
        </p:nvGraphicFramePr>
        <p:xfrm>
          <a:off x="457200" y="1097280"/>
          <a:ext cx="5120640" cy="2688336"/>
        </p:xfrm>
        <a:graphic>
          <a:graphicData uri="http://schemas.openxmlformats.org/drawingml/2006/table">
            <a:tbl>
              <a:tblPr/>
              <a:tblGrid>
                <a:gridCol w="2926080"/>
                <a:gridCol w="822960"/>
                <a:gridCol w="1371600"/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Password tested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Score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Label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password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Very Weak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P@ssw0rd123!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Very Weak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1qaz2wsx!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16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Very Weak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WelcomeSunshine123!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16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Very Weak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Tr9#kLm2$vQx8!pZ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52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Fair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correct-horse-battery-staple-92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62626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62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62626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Strong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3931920"/>
            <a:ext cx="512064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 analyzer output. Simple tricks (capital + digits + symbol) do not fool it.</a:t>
            </a:r>
            <a:endParaRPr lang="en-US" sz="1300" dirty="0"/>
          </a:p>
        </p:txBody>
      </p:sp>
      <p:sp>
        <p:nvSpPr>
          <p:cNvPr id="7" name="Stat card 1"/>
          <p:cNvSpPr/>
          <p:nvPr/>
        </p:nvSpPr>
        <p:spPr>
          <a:xfrm>
            <a:off x="5852160" y="1097280"/>
            <a:ext cx="2834640" cy="1005840"/>
          </a:xfrm>
          <a:prstGeom prst="roundRect">
            <a:avLst>
              <a:gd name="adj" fmla="val 7273"/>
            </a:avLst>
          </a:prstGeom>
          <a:solidFill>
            <a:srgbClr val="EEF2F9"/>
          </a:solidFill>
          <a:ln w="9525">
            <a:solidFill>
              <a:srgbClr val="C9D3E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989320" y="1170432"/>
            <a:ext cx="25603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15 / 15</a:t>
            </a:r>
            <a:endParaRPr lang="en-US" sz="2800" dirty="0"/>
          </a:p>
        </p:txBody>
      </p:sp>
      <p:sp>
        <p:nvSpPr>
          <p:cNvPr id="9" name="Text 6"/>
          <p:cNvSpPr txBox="1"/>
          <p:nvPr/>
        </p:nvSpPr>
        <p:spPr>
          <a:xfrm>
            <a:off x="5989320" y="1691640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unit tests pass</a:t>
            </a:r>
            <a:endParaRPr lang="en-US" sz="1400" dirty="0"/>
          </a:p>
        </p:txBody>
      </p:sp>
      <p:sp>
        <p:nvSpPr>
          <p:cNvPr id="10" name="Stat card 2"/>
          <p:cNvSpPr/>
          <p:nvPr/>
        </p:nvSpPr>
        <p:spPr>
          <a:xfrm>
            <a:off x="5852160" y="2240280"/>
            <a:ext cx="2834640" cy="1005840"/>
          </a:xfrm>
          <a:prstGeom prst="roundRect">
            <a:avLst>
              <a:gd name="adj" fmla="val 7273"/>
            </a:avLst>
          </a:prstGeom>
          <a:solidFill>
            <a:srgbClr val="EEF2F9"/>
          </a:solidFill>
          <a:ln w="9525">
            <a:solidFill>
              <a:srgbClr val="C9D3E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989320" y="2313432"/>
            <a:ext cx="25603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0–100</a:t>
            </a:r>
            <a:endParaRPr lang="en-US" sz="2800" dirty="0"/>
          </a:p>
        </p:txBody>
      </p:sp>
      <p:sp>
        <p:nvSpPr>
          <p:cNvPr id="12" name="Text 9"/>
          <p:cNvSpPr txBox="1"/>
          <p:nvPr/>
        </p:nvSpPr>
        <p:spPr>
          <a:xfrm>
            <a:off x="5989320" y="2834640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live strength score</a:t>
            </a:r>
            <a:endParaRPr lang="en-US" sz="1400" dirty="0"/>
          </a:p>
        </p:txBody>
      </p:sp>
      <p:sp>
        <p:nvSpPr>
          <p:cNvPr id="13" name="Stat card 3"/>
          <p:cNvSpPr/>
          <p:nvPr/>
        </p:nvSpPr>
        <p:spPr>
          <a:xfrm>
            <a:off x="5852160" y="3383280"/>
            <a:ext cx="2834640" cy="1005840"/>
          </a:xfrm>
          <a:prstGeom prst="roundRect">
            <a:avLst>
              <a:gd name="adj" fmla="val 7273"/>
            </a:avLst>
          </a:prstGeom>
          <a:solidFill>
            <a:srgbClr val="EEF2F9"/>
          </a:solidFill>
          <a:ln w="9525">
            <a:solidFill>
              <a:srgbClr val="C9D3E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989320" y="3456432"/>
            <a:ext cx="25603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≈128 bits</a:t>
            </a:r>
            <a:endParaRPr lang="en-US" sz="2800" dirty="0"/>
          </a:p>
        </p:txBody>
      </p:sp>
      <p:sp>
        <p:nvSpPr>
          <p:cNvPr id="15" name="Text 12"/>
          <p:cNvSpPr txBox="1"/>
          <p:nvPr/>
        </p:nvSpPr>
        <p:spPr>
          <a:xfrm>
            <a:off x="5989320" y="3977640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20-character random password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Limitations, Future Scope and Conclusion</a:t>
            </a:r>
            <a:endParaRPr lang="en-US" sz="3000" dirty="0"/>
          </a:p>
        </p:txBody>
      </p:sp>
      <p:sp>
        <p:nvSpPr>
          <p:cNvPr id="4" name="Slide number"/>
          <p:cNvSpPr txBox="1"/>
          <p:nvPr/>
        </p:nvSpPr>
        <p:spPr>
          <a:xfrm>
            <a:off x="8138160" y="475488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Limitations card"/>
          <p:cNvSpPr/>
          <p:nvPr/>
        </p:nvSpPr>
        <p:spPr>
          <a:xfrm>
            <a:off x="457200" y="1097280"/>
            <a:ext cx="4023360" cy="2286000"/>
          </a:xfrm>
          <a:prstGeom prst="roundRect">
            <a:avLst>
              <a:gd name="adj" fmla="val 3200"/>
            </a:avLst>
          </a:prstGeom>
          <a:solidFill>
            <a:srgbClr val="EEF2F9"/>
          </a:solidFill>
          <a:ln w="9525">
            <a:solidFill>
              <a:srgbClr val="C9D3E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207008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Limitations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664208"/>
            <a:ext cx="3657600" cy="1645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262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Score is a heuristic, not a guarantee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262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Blocklist has only 31 entries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262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Entropy overstates passphrases (5 words ≈ 43 bits)</a:t>
            </a:r>
            <a:endParaRPr lang="en-US" sz="1500" dirty="0"/>
          </a:p>
        </p:txBody>
      </p:sp>
      <p:sp>
        <p:nvSpPr>
          <p:cNvPr id="8" name="Future scope card"/>
          <p:cNvSpPr/>
          <p:nvPr/>
        </p:nvSpPr>
        <p:spPr>
          <a:xfrm>
            <a:off x="4663440" y="1097280"/>
            <a:ext cx="4023360" cy="2286000"/>
          </a:xfrm>
          <a:prstGeom prst="roundRect">
            <a:avLst>
              <a:gd name="adj" fmla="val 3200"/>
            </a:avLst>
          </a:prstGeom>
          <a:solidFill>
            <a:srgbClr val="EEF2F9"/>
          </a:solidFill>
          <a:ln w="9525">
            <a:solidFill>
              <a:srgbClr val="C9D3E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46320" y="1207008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Future scope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1664208"/>
            <a:ext cx="3657600" cy="1645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262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Larger audited word list and blocklist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262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Breach check using k-anonymity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262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Better entropy model, Windows .exe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1764</Words>
  <Application>WPS Presentation</Application>
  <PresentationFormat>On-screen Show (16:9)</PresentationFormat>
  <Paragraphs>151</Paragraphs>
  <Slides>5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21" baseType="lpstr">
      <vt:lpstr>Arial</vt:lpstr>
      <vt:lpstr>SimSun</vt:lpstr>
      <vt:lpstr>Wingdings</vt:lpstr>
      <vt:lpstr>Calibri</vt:lpstr>
      <vt:lpstr>Calibri</vt:lpstr>
      <vt:lpstr>Calibri</vt:lpstr>
      <vt:lpstr>Cambria</vt:lpstr>
      <vt:lpstr>Cambria</vt:lpstr>
      <vt:lpstr>Cambria</vt:lpstr>
      <vt:lpstr>Courier New</vt:lpstr>
      <vt:lpstr>Courier New</vt:lpstr>
      <vt:lpstr>Courier New</vt:lpstr>
      <vt:lpstr>Microsoft YaHei</vt:lpstr>
      <vt:lpstr>Arial Unicode MS</vt:lpstr>
      <vt:lpstr>Times New Roman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Password Lab Pro</dc:title>
  <dc:creator>Ayush Asodariya</dc:creator>
  <dc:subject>PptxGenJS Presentation</dc:subject>
  <cp:lastModifiedBy>Ayush Asodariya</cp:lastModifiedBy>
  <cp:revision>3</cp:revision>
  <dcterms:created xsi:type="dcterms:W3CDTF">2026-10-26T19:08:00Z</dcterms:created>
  <dcterms:modified xsi:type="dcterms:W3CDTF">2026-10-27T06:05:28Z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1033-12.1.0.29162</vt:lpwstr>
  </property>
  <property fmtid="{D5CDD505-2E9C-101B-9397-08002B2CF9AE}" pid="3" name="ICV">
    <vt:lpwstr>855592C694D24A45BD63A6EB9654BF84_12</vt:lpwstr>
  </property>
</Properties>
</file>